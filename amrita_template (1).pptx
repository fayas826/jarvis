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autoCompressPictures="0">
  <p:sldMasterIdLst>
    <p:sldMasterId id="2147483670" r:id="rId4"/>
    <p:sldMasterId id="2147483826" r:id="rId5"/>
  </p:sldMasterIdLst>
  <p:notesMasterIdLst>
    <p:notesMasterId r:id="rId17"/>
  </p:notesMasterIdLst>
  <p:sldIdLst>
    <p:sldId id="263" r:id="rId6"/>
    <p:sldId id="319" r:id="rId7"/>
    <p:sldId id="320" r:id="rId8"/>
    <p:sldId id="321" r:id="rId9"/>
    <p:sldId id="322" r:id="rId10"/>
    <p:sldId id="327" r:id="rId11"/>
    <p:sldId id="323" r:id="rId12"/>
    <p:sldId id="324" r:id="rId13"/>
    <p:sldId id="325" r:id="rId14"/>
    <p:sldId id="326" r:id="rId15"/>
    <p:sldId id="330" r:id="rId16"/>
  </p:sldIdLst>
  <p:sldSz cx="12192000" cy="6858000"/>
  <p:notesSz cx="6858000" cy="9144000"/>
  <p:embeddedFontLst>
    <p:embeddedFont>
      <p:font typeface="Avenir Next LT Pro" panose="020B0504020202020204" pitchFamily="34" charset="0"/>
      <p:regular r:id="rId18"/>
      <p:bold r:id="rId19"/>
      <p:italic r:id="rId20"/>
      <p:boldItalic r:id="rId21"/>
    </p:embeddedFont>
    <p:embeddedFont>
      <p:font typeface="Futura Bk BT" panose="020B0502020204020303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114F"/>
    <a:srgbClr val="B8094D"/>
    <a:srgbClr val="404040"/>
    <a:srgbClr val="D7D047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7963BF-2F1C-4248-9C11-594C7676C1F0}">
  <a:tblStyle styleId="{A07963BF-2F1C-4248-9C11-594C7676C1F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106" autoAdjust="0"/>
  </p:normalViewPr>
  <p:slideViewPr>
    <p:cSldViewPr>
      <p:cViewPr varScale="1">
        <p:scale>
          <a:sx n="76" d="100"/>
          <a:sy n="76" d="100"/>
        </p:scale>
        <p:origin x="576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105CEC98-2FBE-82B5-519E-2D12AB01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>
            <a:extLst>
              <a:ext uri="{FF2B5EF4-FFF2-40B4-BE49-F238E27FC236}">
                <a16:creationId xmlns:a16="http://schemas.microsoft.com/office/drawing/2014/main" id="{102EF465-358A-D792-E8C4-5EBB7BC4A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" name="Google Shape;170;p2:notes">
            <a:extLst>
              <a:ext uri="{FF2B5EF4-FFF2-40B4-BE49-F238E27FC236}">
                <a16:creationId xmlns:a16="http://schemas.microsoft.com/office/drawing/2014/main" id="{A23D25D6-ABD6-6D9F-4A26-21CDF58A1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173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 hasCustomPrompt="1"/>
          </p:nvPr>
        </p:nvSpPr>
        <p:spPr>
          <a:xfrm>
            <a:off x="4943872" y="2060848"/>
            <a:ext cx="6552728" cy="208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/>
              <a:buNone/>
              <a:defRPr sz="6000">
                <a:latin typeface="Futura Bk BT" panose="020B0502020204020303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</a:t>
            </a:r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 hasCustomPrompt="1"/>
          </p:nvPr>
        </p:nvSpPr>
        <p:spPr>
          <a:xfrm>
            <a:off x="4948200" y="4293096"/>
            <a:ext cx="619390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latin typeface="Futura Bk BT" panose="020B0502020204020303" pitchFamily="34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Your Name &amp; Department</a:t>
            </a:r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65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30314"/>
            <a:ext cx="11809312" cy="587360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836712"/>
            <a:ext cx="11809312" cy="5400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06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82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7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32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8" y="-3739"/>
            <a:ext cx="10515600" cy="80371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42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94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92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</a:t>
            </a:r>
            <a:r>
              <a:rPr lang="en-US" dirty="0" err="1"/>
              <a:t>stststsyle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83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37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094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5DDD8A-2C30-4A03-A2E3-B127EE48B437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033656423"/>
              </p:ext>
            </p:extLst>
          </p:nvPr>
        </p:nvGraphicFramePr>
        <p:xfrm>
          <a:off x="1127448" y="2573833"/>
          <a:ext cx="3783013" cy="171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782576" imgH="1719075" progId="">
                  <p:embed/>
                </p:oleObj>
              </mc:Choice>
              <mc:Fallback>
                <p:oleObj name="Image" r:id="rId3" imgW="3782576" imgH="1719075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5DDD8A-2C30-4A03-A2E3-B127EE48B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2573833"/>
                        <a:ext cx="3783013" cy="171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191159" y="2508250"/>
            <a:ext cx="69056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sz="5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dirty="0">
                <a:latin typeface="Futura Bk BT" panose="020B0502020204020303" pitchFamily="34" charset="0"/>
              </a:rPr>
              <a:t>Click to Add Title</a:t>
            </a:r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191159" y="4115776"/>
            <a:ext cx="4548178" cy="160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latin typeface="Futura Bk BT" panose="020B0502020204020303" pitchFamily="34" charset="0"/>
              </a:rPr>
              <a:t>Your name &amp; Department</a:t>
            </a:r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6675" y="6423025"/>
            <a:ext cx="1171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/>
          <p:nvPr/>
        </p:nvSpPr>
        <p:spPr>
          <a:xfrm>
            <a:off x="214313" y="2492375"/>
            <a:ext cx="3609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`</a:t>
            </a:r>
            <a:endParaRPr dirty="0"/>
          </a:p>
        </p:txBody>
      </p:sp>
      <p:cxnSp>
        <p:nvCxnSpPr>
          <p:cNvPr id="15" name="Google Shape;15;p1"/>
          <p:cNvCxnSpPr/>
          <p:nvPr/>
        </p:nvCxnSpPr>
        <p:spPr>
          <a:xfrm>
            <a:off x="4833970" y="2581284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Futura Bk BT" panose="020B0502020204020303" pitchFamily="34" charset="0"/>
          <a:ea typeface="Futura Bk BT" panose="020B0502020204020303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Futura Bk BT" panose="020B0502020204020303" pitchFamily="34" charset="0"/>
          <a:ea typeface="Futura Bk BT" panose="020B0502020204020303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20" name="Picture 19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5335AFD0-88FD-48F4-AC19-C91CA0221B2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Google Shape;174;p26">
            <a:extLst>
              <a:ext uri="{FF2B5EF4-FFF2-40B4-BE49-F238E27FC236}">
                <a16:creationId xmlns:a16="http://schemas.microsoft.com/office/drawing/2014/main" id="{2D604A40-37F3-4221-BE2A-ACD7D739C63B}"/>
              </a:ext>
            </a:extLst>
          </p:cNvPr>
          <p:cNvSpPr txBox="1">
            <a:spLocks/>
          </p:cNvSpPr>
          <p:nvPr userDrawn="1"/>
        </p:nvSpPr>
        <p:spPr>
          <a:xfrm>
            <a:off x="8328248" y="64533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077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 Bk BT" panose="020B05020202040203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sciencedirect.com/science/article/abs/pii/S092523122500339X" TargetMode="External"/><Relationship Id="rId5" Type="http://schemas.openxmlformats.org/officeDocument/2006/relationships/hyperlink" Target="https://www.sciltp.com/journals/iwt/articles/2508001101" TargetMode="External"/><Relationship Id="rId4" Type="http://schemas.openxmlformats.org/officeDocument/2006/relationships/hyperlink" Target="https://www.mdpi.com/2504-2289/9/11/29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ctrTitle"/>
          </p:nvPr>
        </p:nvSpPr>
        <p:spPr>
          <a:xfrm>
            <a:off x="4943872" y="2175710"/>
            <a:ext cx="6552728" cy="208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  <a:buSzPts val="5400"/>
            </a:pPr>
            <a:r>
              <a:rPr lang="en-US" sz="2400" b="1" dirty="0"/>
              <a:t>MindfulAI: Addressing Emotional Ambiguity in Mental Health Support through a Hybrid BERT-Classified and Gemini-Generative Framework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115EEB-1D5C-DC98-9289-EC2573EF5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1984" y="5202238"/>
            <a:ext cx="6193904" cy="1655762"/>
          </a:xfrm>
        </p:spPr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5" name="Google Shape;169;p25"/>
          <p:cNvSpPr txBox="1">
            <a:spLocks/>
          </p:cNvSpPr>
          <p:nvPr/>
        </p:nvSpPr>
        <p:spPr>
          <a:xfrm>
            <a:off x="7392144" y="4682290"/>
            <a:ext cx="4387275" cy="1987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lt1"/>
              </a:buClr>
              <a:buSzPts val="2400"/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Group No. : M17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2400"/>
              <a:defRPr/>
            </a:pPr>
            <a:r>
              <a:rPr lang="en-IN" sz="1600" b="1" dirty="0">
                <a:solidFill>
                  <a:schemeClr val="bg1"/>
                </a:solidFill>
              </a:rPr>
              <a:t>Anagha G Krishnan(AM.SC.P2ARI25005)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2400"/>
              <a:defRPr/>
            </a:pPr>
            <a:r>
              <a:rPr lang="en-IN" sz="1600" b="1" dirty="0">
                <a:solidFill>
                  <a:schemeClr val="bg1"/>
                </a:solidFill>
              </a:rPr>
              <a:t>Karthik Ganesh(AM.SC.P2AML25016)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2400"/>
              <a:defRPr/>
            </a:pPr>
            <a:r>
              <a:rPr lang="en-IN" sz="1600" b="1" dirty="0">
                <a:solidFill>
                  <a:schemeClr val="bg1"/>
                </a:solidFill>
              </a:rPr>
              <a:t>Mathew J Shaji(AM.SC.P2AML25017)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2400"/>
              <a:defRPr/>
            </a:pPr>
            <a:r>
              <a:rPr lang="en-IN" sz="1600" b="1" dirty="0">
                <a:solidFill>
                  <a:schemeClr val="bg1"/>
                </a:solidFill>
              </a:rPr>
              <a:t>Muhammed Ajmal A(AM.SC.P2AML25020</a:t>
            </a:r>
            <a:r>
              <a:rPr lang="en-IN" sz="1600" dirty="0">
                <a:solidFill>
                  <a:schemeClr val="bg1"/>
                </a:solidFill>
              </a:rPr>
              <a:t>)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2400"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F05EC-615B-3875-1694-F72D078B8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271463" y="2481130"/>
            <a:ext cx="3505689" cy="18957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B5B36E-BAE0-A5E5-9BC7-F9D1BE477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1961888"/>
            <a:ext cx="3505689" cy="1895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E8CB12-02E5-7686-C73F-9E3E353BCB8B}"/>
              </a:ext>
            </a:extLst>
          </p:cNvPr>
          <p:cNvSpPr txBox="1"/>
          <p:nvPr/>
        </p:nvSpPr>
        <p:spPr>
          <a:xfrm>
            <a:off x="1307469" y="5013176"/>
            <a:ext cx="3816424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 advTm="4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3D1A-8181-D02C-8E20-7E1C07AA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6AE88-A88C-2A37-FE3D-CFE0C942B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disorders affect millions worldwide, but access to professional care remains limited by cost, distance, and stigma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AI has emerged as a scalable and non-judgmental way for people to express their feelings and receive support.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existing chatbots treat emotion as simple positive or negative — they cannot distinguish between sadness, fear, anger, or love.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forget everything between turns — each message is treated as if the conversation never happened before.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importantly, no existing system guarantees safe handling of crisis inputs — they rely on the AI to figure it out, which is unreliable.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MindfulAI addresses all three gaps — fine-grained emotion detection, conversation memory, and deterministic crisis safety — in a single deployable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41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CC03-C1C1-8871-EED4-3ECD52D7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CC0B7-E9CE-2A3F-D105-DEF4CA559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mental health conversational systems lack fine-grained emotion classification, longitudinal context awareness, and deterministic crisis handling, resulting in generic, emotionally misaligned, and potentially unsafe responses to users in distress.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3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AD33C-BA4A-2302-D5F3-70AED0136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64" y="1700808"/>
            <a:ext cx="11233248" cy="3456384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Pre-Model Crisis Interception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safety before AI, not inside it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SQLite-Backed Emotion Trend Injection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longitudinal memory without retraining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Classifier-Grounded Dynamic Strategy Generation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context-aware coping, not templated rules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942C0A-E8EF-D8EF-EDF0-AB252B2FE81C}"/>
              </a:ext>
            </a:extLst>
          </p:cNvPr>
          <p:cNvSpPr/>
          <p:nvPr/>
        </p:nvSpPr>
        <p:spPr>
          <a:xfrm>
            <a:off x="551384" y="156216"/>
            <a:ext cx="10297144" cy="12961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MindfulAI Adds: Three Architectural Decisions Not Found Together in Prior Work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78703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4522-6CC5-5A2F-3B2D-64CF1AA4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130314"/>
            <a:ext cx="11809312" cy="27435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METHODOLOGY(SYSTEM PIPELINE)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CACD74-79A7-5521-9323-AEC75B36D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34" y="591479"/>
            <a:ext cx="6624736" cy="60486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A9128B-CF16-3DDD-082A-B73BD2FB3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64" y="1988840"/>
            <a:ext cx="4824536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4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452D-BB7E-527F-4619-CB50B33A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A560-A6FE-D5EA-73FA-FE258BAA8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-ai/emotion — 16,000 labelled sentences, 6 emotion classes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Tokenized text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WordPiece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max 512 tokens, dynamic padding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6-class output layer on BERT's [CLS] token — ŷ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 ·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h_CLS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2 epochs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=5e-5, batch 64, T4 GPU — 517 seconds total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auto-saved by lowest validation loss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5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81AB-E17C-3610-F984-D610BDCB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Prompt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680F1-77D5-F444-C6BF-651A3D0EC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turn, Gemini receives a structured prompt containing: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user said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exact input text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result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emotion label + confidence score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note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from SQLite if same emotion repeated 3 times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history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last 5 conversation turns</a:t>
            </a:r>
          </a:p>
          <a:p>
            <a:pPr marL="457200" lvl="1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returns: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[MSG]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warm empathetic response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[STRAT]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unique coping strategy, never repeated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Gemini fails → safe fallback message returned automatically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2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BDAB-08D6-9E73-D399-35F734BA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1436AA-79FB-35A8-A2A0-CEDA7D428D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218" y="2459504"/>
            <a:ext cx="970066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dropped from 0.5821 to 0.2047 — model learned rapidly without overfitting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 consistently decreased — best checkpoint correctly selected at epoch 2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92.65% accuracy and F1 = 0.9264 achieved in just 517 seconds on a free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AFFD6-F698-3D11-CC8C-E7376F8A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908720"/>
            <a:ext cx="7078063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4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501C-7D60-47CC-CE90-484B3740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EAE7C-FE8B-D387-4850-FDC72A4BC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Separating emotion classification (BERT) and response generation (Gemini) produces more emotionally grounded responses than a single end-to-end LLM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BERT achieves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92.65% accuracy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= 0.9264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 reliable local classifier that runs fully offline without cloud dependency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crisis detection + SQLite trend memory + LLM-generated strategies together solve the three failures of existing systems — unsafe responses, stateless conversations, and generic suggestions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9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FF346-E29A-26E4-9B5F-0749BE9D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4244-0944-5E91-922D-2E85BBA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Crisis Classifier:</a:t>
            </a:r>
          </a:p>
          <a:p>
            <a:pPr marL="914400" lvl="2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keyword filter with a trained clinical model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indirect, misspelled, and nuanced distress signals</a:t>
            </a:r>
          </a:p>
          <a:p>
            <a:pPr marL="914400" lvl="2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</a:p>
          <a:p>
            <a:pPr marL="914400" lvl="2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 XLM-R for Malayalam + Indian languages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express emotions in native and mixed languages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79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1708EF26-D518-2267-5426-F29AD858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C70BA4-4CB9-7737-9F45-482832CBC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0" y="0"/>
            <a:ext cx="12192000" cy="6858000"/>
          </a:xfrm>
          <a:prstGeom prst="rect">
            <a:avLst/>
          </a:prstGeom>
        </p:spPr>
      </p:pic>
      <p:sp>
        <p:nvSpPr>
          <p:cNvPr id="172" name="Google Shape;172;p26">
            <a:extLst>
              <a:ext uri="{FF2B5EF4-FFF2-40B4-BE49-F238E27FC236}">
                <a16:creationId xmlns:a16="http://schemas.microsoft.com/office/drawing/2014/main" id="{F1AEA2DF-77B9-D47E-8D89-58FBE24A1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5400"/>
            </a:pPr>
            <a:br>
              <a:rPr lang="en-US" sz="2800" dirty="0"/>
            </a:br>
            <a:r>
              <a:rPr lang="en-US" sz="2800" b="1" kern="0" spc="200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BDE4A3-B979-7EF5-26E1-1BC1AA1FE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/>
              <a:t>[1] </a:t>
            </a:r>
            <a:r>
              <a:rPr lang="en-US" sz="1200" dirty="0"/>
              <a:t>L. Balcombe, “AI chatbots in mental health care: Integrative review of challenges and solutions,” 2025.</a:t>
            </a:r>
            <a:r>
              <a:rPr lang="en-IN" sz="1200" b="1" dirty="0"/>
              <a:t>[2]</a:t>
            </a:r>
            <a:r>
              <a:rPr lang="en-IN" sz="1200" dirty="0"/>
              <a:t> (Authors TBD), "FL-Swarm MRCM: A novel federated learning framework for cross-site medical image reconstruction," </a:t>
            </a:r>
            <a:r>
              <a:rPr lang="en-IN" sz="1200" i="1" dirty="0"/>
              <a:t>Big Data and Cognitive Computing</a:t>
            </a:r>
            <a:r>
              <a:rPr lang="en-IN" sz="1200" dirty="0"/>
              <a:t>, vol. 9, no. 11, p. 295, Nov. 2025, </a:t>
            </a:r>
            <a:r>
              <a:rPr lang="en-IN" sz="1200" dirty="0" err="1"/>
              <a:t>doi</a:t>
            </a:r>
            <a:r>
              <a:rPr lang="en-IN" sz="1200" dirty="0"/>
              <a:t>: 10.3390/bdcc9110295. [Online]. Available: </a:t>
            </a:r>
            <a:r>
              <a:rPr lang="en-IN" sz="1200" dirty="0">
                <a:hlinkClick r:id="rId4"/>
              </a:rPr>
              <a:t>https://www.mdpi.com/2504-2289/9/11/295</a:t>
            </a:r>
            <a:endParaRPr lang="en-IN" sz="1200" dirty="0"/>
          </a:p>
          <a:p>
            <a:pPr algn="just">
              <a:lnSpc>
                <a:spcPct val="150000"/>
              </a:lnSpc>
            </a:pPr>
            <a:r>
              <a:rPr lang="en-US" sz="1200" b="1" dirty="0"/>
              <a:t>[2] </a:t>
            </a:r>
            <a:r>
              <a:rPr lang="en-US" sz="1200" dirty="0"/>
              <a:t>A. Cabrera Lozoya et al., “Leveraging large language models for simulated psychotherapy client interactions: Development and usability study of Client101,” 2025.</a:t>
            </a:r>
            <a:r>
              <a:rPr lang="en-IN" sz="1200" b="1" dirty="0"/>
              <a:t>[4]</a:t>
            </a:r>
            <a:r>
              <a:rPr lang="en-IN" sz="1200" dirty="0"/>
              <a:t> J. Hu, Z. Yang, P. Wang, G. Zhao, H. Huang, Z. Zong, and D. O. Wu, "Federated learning for medical image analysis: Privacy-preserving paradigms and clinical challenges," </a:t>
            </a:r>
            <a:r>
              <a:rPr lang="en-IN" sz="1200" i="1" dirty="0"/>
              <a:t>Image and Vision Technology</a:t>
            </a:r>
            <a:r>
              <a:rPr lang="en-IN" sz="1200" dirty="0"/>
              <a:t>, p. 2508001101, Aug. 2025. [Online]. Available: </a:t>
            </a:r>
            <a:r>
              <a:rPr lang="en-IN" sz="1200" dirty="0">
                <a:hlinkClick r:id="rId5"/>
              </a:rPr>
              <a:t>https://www.sciltp.com/journals/iwt/articles/2508001101</a:t>
            </a:r>
            <a:endParaRPr lang="en-IN" sz="1200" dirty="0"/>
          </a:p>
          <a:p>
            <a:pPr algn="just">
              <a:lnSpc>
                <a:spcPct val="150000"/>
              </a:lnSpc>
            </a:pPr>
            <a:r>
              <a:rPr lang="en-US" sz="1200" b="1" dirty="0"/>
              <a:t>[3] </a:t>
            </a:r>
            <a:r>
              <a:rPr lang="en-US" sz="1200" dirty="0"/>
              <a:t>A. Fahmi and E. Nababan, “A comparative study of BERT and </a:t>
            </a:r>
            <a:r>
              <a:rPr lang="en-US" sz="1200" dirty="0" err="1"/>
              <a:t>RoBERTa</a:t>
            </a:r>
            <a:r>
              <a:rPr lang="en-US" sz="1200" dirty="0"/>
              <a:t> for sentiment analysis on Twitter data related to mental health,” 2025.</a:t>
            </a:r>
            <a:r>
              <a:rPr lang="en-US" sz="1200" b="1" dirty="0"/>
              <a:t>[6]</a:t>
            </a:r>
            <a:r>
              <a:rPr lang="en-US" sz="1200" dirty="0"/>
              <a:t> H. Xiao, Z. Yang, T. Liu, S. Liu, X. Huang, and J. Dai, "Deep learning for medical imaging super-resolution: A comprehensive review," </a:t>
            </a:r>
            <a:r>
              <a:rPr lang="en-US" sz="1200" i="1" dirty="0"/>
              <a:t>Computer Methods and Programs in Biomedicine</a:t>
            </a:r>
            <a:r>
              <a:rPr lang="en-US" sz="1200" dirty="0"/>
              <a:t>, 2025. [Online]. Available: </a:t>
            </a:r>
            <a:r>
              <a:rPr lang="en-US" sz="1200" dirty="0">
                <a:hlinkClick r:id="rId6"/>
              </a:rPr>
              <a:t>https://www.sciencedirect.com/science/article/abs/pii/S092523122500339X</a:t>
            </a:r>
            <a:endParaRPr lang="en-US" sz="1200" dirty="0"/>
          </a:p>
          <a:p>
            <a:pPr algn="just">
              <a:lnSpc>
                <a:spcPct val="150000"/>
              </a:lnSpc>
            </a:pPr>
            <a:r>
              <a:rPr lang="en-US" sz="1200" b="1" dirty="0"/>
              <a:t>[4] </a:t>
            </a:r>
            <a:r>
              <a:rPr lang="en-US" sz="1200" dirty="0"/>
              <a:t>I. Gabriel et al., “Can AI relate: Testing large language model response for mental health support,” 2024.</a:t>
            </a:r>
            <a:endParaRPr lang="en-US" sz="1200" b="1" dirty="0"/>
          </a:p>
          <a:p>
            <a:pPr algn="just">
              <a:lnSpc>
                <a:spcPct val="150000"/>
              </a:lnSpc>
            </a:pPr>
            <a:r>
              <a:rPr lang="en-US" sz="1200" b="1" dirty="0"/>
              <a:t>[5] </a:t>
            </a:r>
            <a:r>
              <a:rPr lang="en-US" sz="1200" dirty="0"/>
              <a:t>Y. Hua et al., “A scoping review of large language models for generative tasks in mental health care,” 2025.</a:t>
            </a:r>
            <a:r>
              <a:rPr lang="en-IN" sz="1200" b="1" dirty="0"/>
              <a:t>[9]</a:t>
            </a:r>
            <a:r>
              <a:rPr lang="en-IN" sz="1200" dirty="0"/>
              <a:t> P. Nandal, S. Pahal, A. Khanna, and P. R. Pinheiro, "Super-resolution of medical images using Real-ESRGAN," IEEE Access, vol. 12, pp. 176155–176170, 2024, </a:t>
            </a:r>
            <a:r>
              <a:rPr lang="en-IN" sz="1200" dirty="0" err="1"/>
              <a:t>doi</a:t>
            </a:r>
            <a:r>
              <a:rPr lang="en-IN" sz="1200" dirty="0"/>
              <a:t>: 10.1109/ACCESS.2025.3497002.</a:t>
            </a:r>
          </a:p>
          <a:p>
            <a:pPr algn="just">
              <a:lnSpc>
                <a:spcPct val="150000"/>
              </a:lnSpc>
            </a:pPr>
            <a:r>
              <a:rPr lang="en-US" sz="1200" b="1" dirty="0"/>
              <a:t>[6] </a:t>
            </a:r>
            <a:r>
              <a:rPr lang="en-US" sz="1200" dirty="0"/>
              <a:t>J. Kang and H. Hong, “Development and evaluation of a mental health chatbot using ChatGPT 4.0: Mixed methods user experience study with Korean users,” 2025.</a:t>
            </a:r>
          </a:p>
          <a:p>
            <a:pPr algn="just">
              <a:lnSpc>
                <a:spcPct val="150000"/>
              </a:lnSpc>
            </a:pPr>
            <a:r>
              <a:rPr lang="en-US" sz="1200" b="1" dirty="0"/>
              <a:t>[7] </a:t>
            </a:r>
            <a:r>
              <a:rPr lang="en-US" sz="1200" dirty="0"/>
              <a:t>S. Kulkarni and A. </a:t>
            </a:r>
            <a:r>
              <a:rPr lang="en-US" sz="1200" dirty="0" err="1"/>
              <a:t>Wadhekar</a:t>
            </a:r>
            <a:r>
              <a:rPr lang="en-US" sz="1200" dirty="0"/>
              <a:t>, “AI mental health therapist,” 2025.</a:t>
            </a:r>
          </a:p>
          <a:p>
            <a:pPr algn="just">
              <a:lnSpc>
                <a:spcPct val="150000"/>
              </a:lnSpc>
            </a:pPr>
            <a:r>
              <a:rPr lang="en-US" sz="1200" b="1" dirty="0"/>
              <a:t>[8] </a:t>
            </a:r>
            <a:r>
              <a:rPr lang="en-US" sz="1200" dirty="0"/>
              <a:t>T. Lecourt et al., “Only ChatGPT gets me: An empirical analysis of GPT versus other large language models for emotion detection in text,” 2025.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5B165B-8552-0644-722B-BB46C434D79D}"/>
              </a:ext>
            </a:extLst>
          </p:cNvPr>
          <p:cNvSpPr txBox="1"/>
          <p:nvPr/>
        </p:nvSpPr>
        <p:spPr>
          <a:xfrm>
            <a:off x="11208568" y="6405802"/>
            <a:ext cx="792088" cy="432000"/>
          </a:xfrm>
          <a:prstGeom prst="rect">
            <a:avLst/>
          </a:prstGeom>
          <a:solidFill>
            <a:srgbClr val="B8114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2E51876-4C98-BF83-8FDB-97FD90AE6C8F}"/>
              </a:ext>
            </a:extLst>
          </p:cNvPr>
          <p:cNvSpPr/>
          <p:nvPr/>
        </p:nvSpPr>
        <p:spPr>
          <a:xfrm>
            <a:off x="365760" y="788972"/>
            <a:ext cx="1005840" cy="36576"/>
          </a:xfrm>
          <a:prstGeom prst="rect">
            <a:avLst/>
          </a:prstGeom>
          <a:solidFill>
            <a:schemeClr val="tx1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4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0"/>
    </mc:Choice>
    <mc:Fallback xmlns="">
      <p:transition spd="slow" advTm="642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ver slide">
      <a:majorFont>
        <a:latin typeface="Futura Bk BT"/>
        <a:ea typeface=""/>
        <a:cs typeface=""/>
      </a:majorFont>
      <a:minorFont>
        <a:latin typeface="Futura Bk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Futura Bk B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07FA7F67D5EB42A589D9FA602C5239" ma:contentTypeVersion="9" ma:contentTypeDescription="Create a new document." ma:contentTypeScope="" ma:versionID="f0da518a269737daea80c044564fb8c8">
  <xsd:schema xmlns:xsd="http://www.w3.org/2001/XMLSchema" xmlns:xs="http://www.w3.org/2001/XMLSchema" xmlns:p="http://schemas.microsoft.com/office/2006/metadata/properties" xmlns:ns2="a994a0f7-8db7-47f8-8729-97085a9d0c0b" targetNamespace="http://schemas.microsoft.com/office/2006/metadata/properties" ma:root="true" ma:fieldsID="1041933714dc7abf71deac2f48c9ed93" ns2:_="">
    <xsd:import namespace="a994a0f7-8db7-47f8-8729-97085a9d0c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4a0f7-8db7-47f8-8729-97085a9d0c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6308E-059C-46BA-A3D0-CB820AE00400}">
  <ds:schemaRefs>
    <ds:schemaRef ds:uri="a994a0f7-8db7-47f8-8729-97085a9d0c0b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7744040-6DF8-494D-9D2F-BDABDC149E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7C9582-10CD-4458-8237-183FEE6BC6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94a0f7-8db7-47f8-8729-97085a9d0c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8821</TotalTime>
  <Words>1097</Words>
  <Application>Microsoft Office PowerPoint</Application>
  <PresentationFormat>Widescreen</PresentationFormat>
  <Paragraphs>66</Paragraphs>
  <Slides>11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Futura Bk BT</vt:lpstr>
      <vt:lpstr>Times New Roman</vt:lpstr>
      <vt:lpstr>Wingdings</vt:lpstr>
      <vt:lpstr>Calibri</vt:lpstr>
      <vt:lpstr>Arial</vt:lpstr>
      <vt:lpstr>Avenir Next LT Pro</vt:lpstr>
      <vt:lpstr>Office Theme</vt:lpstr>
      <vt:lpstr>1_Office Theme</vt:lpstr>
      <vt:lpstr>Image</vt:lpstr>
      <vt:lpstr>MindfulAI: Addressing Emotional Ambiguity in Mental Health Support through a Hybrid BERT-Classified and Gemini-Generative Framework</vt:lpstr>
      <vt:lpstr>INTRODUCTION</vt:lpstr>
      <vt:lpstr>PROBLEM STATEMENT</vt:lpstr>
      <vt:lpstr>PowerPoint Presentation</vt:lpstr>
      <vt:lpstr>METHODOLOGY(SYSTEM PIPELINE)</vt:lpstr>
      <vt:lpstr>BERT Fine-Tuning</vt:lpstr>
      <vt:lpstr>Gemini Prompt Design</vt:lpstr>
      <vt:lpstr>Quantitative Results</vt:lpstr>
      <vt:lpstr>CONCLUSION</vt:lpstr>
      <vt:lpstr>FUTURE SCOPE</vt:lpstr>
      <vt:lpstr> 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&lt;Topic Name&gt;</dc:title>
  <dc:creator>SSJ2</dc:creator>
  <cp:lastModifiedBy>mathew shaji</cp:lastModifiedBy>
  <cp:revision>219</cp:revision>
  <dcterms:modified xsi:type="dcterms:W3CDTF">2026-04-24T15:00:07Z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0x010100CD07FA7F67D5EB42A589D9FA602C5239</vt:lpwstr>
  </property>
</Properties>
</file>