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200376"/>
            <a:ext cx="11049000" cy="21812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937" y="476250"/>
            <a:ext cx="1000125" cy="666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97185" y="2295525"/>
            <a:ext cx="859748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1" sz="2400" i="0" u="none">
                <a:solidFill>
                  <a:srgbClr val="1E3A8A"/>
                </a:solidFill>
                <a:latin typeface="Times New Roman"/>
              </a:rPr>
              <a:t>Seminar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7185" y="2708820"/>
            <a:ext cx="8597480" cy="434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Times New Roman"/>
              </a:rPr>
              <a:t>CogAgent: A Visual Language Model for GUI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4448026"/>
            <a:ext cx="49434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0F172A"/>
                </a:solidFill>
                <a:latin typeface="Times New Roman"/>
              </a:rPr>
              <a:t>Name of Student:</a:t>
            </a:r>
            <a:r>
              <a:rPr b="0" sz="1650" i="0" u="none">
                <a:solidFill>
                  <a:srgbClr val="334155"/>
                </a:solidFill>
                <a:latin typeface="Times New Roman"/>
              </a:rPr>
              <a:t> MUHAMMED AL FAYAS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4448026"/>
            <a:ext cx="49434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0F172A"/>
                </a:solidFill>
                <a:latin typeface="Times New Roman"/>
              </a:rPr>
              <a:t>University Register No:</a:t>
            </a:r>
            <a:r>
              <a:rPr b="0" sz="1650" i="0" u="none">
                <a:solidFill>
                  <a:srgbClr val="334155"/>
                </a:solidFill>
                <a:latin typeface="Times New Roman"/>
              </a:rPr>
              <a:t> BJK23CS042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905226"/>
            <a:ext cx="49434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0F172A"/>
                </a:solidFill>
                <a:latin typeface="Times New Roman"/>
              </a:rPr>
              <a:t>Name Of Guide:</a:t>
            </a:r>
            <a:r>
              <a:rPr b="0" sz="1650" i="0" u="none">
                <a:solidFill>
                  <a:srgbClr val="334155"/>
                </a:solidFill>
                <a:latin typeface="Times New Roman"/>
              </a:rPr>
              <a:t> V. MANJU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4905226"/>
            <a:ext cx="49434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0F172A"/>
                </a:solidFill>
                <a:latin typeface="Times New Roman"/>
              </a:rPr>
              <a:t>Semester &amp; Branch:</a:t>
            </a:r>
            <a:r>
              <a:rPr b="0" sz="1650" i="0" u="none">
                <a:solidFill>
                  <a:srgbClr val="334155"/>
                </a:solidFill>
                <a:latin typeface="Times New Roman"/>
              </a:rPr>
              <a:t> S7, Computer Science Department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5362426"/>
            <a:ext cx="49434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0F172A"/>
                </a:solidFill>
                <a:latin typeface="Times New Roman"/>
              </a:rPr>
              <a:t>Department:</a:t>
            </a:r>
            <a:r>
              <a:rPr b="0" sz="1650" i="0" u="none">
                <a:solidFill>
                  <a:srgbClr val="334155"/>
                </a:solidFill>
                <a:latin typeface="Times New Roman"/>
              </a:rPr>
              <a:t> Computer Science &amp;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5362426"/>
            <a:ext cx="49434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0F172A"/>
                </a:solidFill>
                <a:latin typeface="Times New Roman"/>
              </a:rPr>
              <a:t>College:</a:t>
            </a:r>
            <a:r>
              <a:rPr b="0" sz="1650" i="0" u="none">
                <a:solidFill>
                  <a:srgbClr val="334155"/>
                </a:solidFill>
                <a:latin typeface="Times New Roman"/>
              </a:rPr>
              <a:t> Bishop Jerome 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5819626"/>
            <a:ext cx="102679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1" sz="1650" i="0" u="none">
                <a:solidFill>
                  <a:srgbClr val="0F172A"/>
                </a:solidFill>
                <a:latin typeface="Times New Roman"/>
              </a:rPr>
              <a:t>Academic Year:</a:t>
            </a:r>
            <a:r>
              <a:rPr b="0" sz="1650" i="0" u="none">
                <a:solidFill>
                  <a:srgbClr val="334155"/>
                </a:solidFill>
                <a:latin typeface="Times New Roman"/>
              </a:rPr>
              <a:t>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76250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Times New Roman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0" y="690562"/>
            <a:ext cx="7620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11715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1715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Human-computer interaction is shifting rapidly from manual mouse/keyboard manipulation to intent-based AI assistance.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16287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16287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Standard text-based language models lack direct access to graphical user interfaces and visual spatial layouts.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0859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0859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Visual Language Models (VLMs) bridge this accessibility gap directly from raw screenshots and pixel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5431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25431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The proposed framework merges voice-driven conversational AI with native OS execution for seamless automation.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30003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30003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Addresses the growing need for autonomous digital agents capable of complex application navigation.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76250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Times New Roman"/>
              </a:rP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0" y="690562"/>
            <a:ext cx="7620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11715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1715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Times New Roman"/>
              </a:rPr>
              <a:t>Continuous Voice Interaction: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 Enable continuous, zero-latency voice-to-voice computer interaction.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16287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16287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Times New Roman"/>
              </a:rPr>
              <a:t>Autonomous OS Control: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 Achieve full, autonomous system control over the entire desktop environment.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0859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0859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Times New Roman"/>
              </a:rPr>
              <a:t>Generative Workflows: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 Automate complex generative workflows, including full codebase scaffolding and website creation.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5431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2543175"/>
            <a:ext cx="10763250" cy="62865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Times New Roman"/>
              </a:rPr>
              <a:t>Web Task Automation: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 Execute multi-step web tasks autonomously, such as online ticket booking and e-commerce transactions.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3314700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3314700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Times New Roman"/>
              </a:rPr>
              <a:t>Expected Outcomes: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 Deliver a robust, secure, and privacy-preserving desktop assistant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76250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Times New Roman"/>
              </a:rPr>
              <a:t>Overview / Background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0" y="690562"/>
            <a:ext cx="7620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11715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171575"/>
            <a:ext cx="10763250" cy="62865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Times New Roman"/>
              </a:rPr>
              <a:t>Brittle Scripts: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 Traditional script-based macros (like AutoHotkey or basic Selenium) break instantly during minor UI layout shifts or theme updates.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1943100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1943100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Times New Roman"/>
              </a:rPr>
              <a:t>Isolated Environments: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 Standard language models operate in isolated sandboxes without hardware or screen hooks.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400300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400300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Times New Roman"/>
              </a:rPr>
              <a:t>Human-Like Perception: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 High-resolution visual agents process screens naturally through image patches, just like human eyes.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857500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2857500"/>
            <a:ext cx="10763250" cy="62865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Times New Roman"/>
              </a:rPr>
              <a:t>Hybrid Perception: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 Advanced hybrid perception systems eliminate the need for hardcoded coordinate points and rigid XPath selectors.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76250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Times New Roman"/>
              </a:rPr>
              <a:t>Related Work /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0" y="690562"/>
            <a:ext cx="7620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1266825"/>
            <a:ext cx="11049000" cy="3467100"/>
          </a:xfrm>
          <a:prstGeom prst="roundRect">
            <a:avLst>
              <a:gd name="adj" fmla="val 0"/>
            </a:avLst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1266825"/>
          <a:ext cx="11039474" cy="346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15244"/>
                <a:gridCol w="2290464"/>
                <a:gridCol w="7033766"/>
              </a:tblGrid>
              <a:tr h="866775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Author / Year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Work / Model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Key Findings &amp; Contributions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Hong et al. (2024)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CogAgent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Dual-encoder VLM designed specifically for GUI environments, achieving state-of-the-art screen understanding.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Deng et al. (2023)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Mind2Web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Generalist web agents evaluated on complex cross-website navigation and multi-action task completion.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Rawles et al. (2023)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Android in the Wild (AITW)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Large-scale action-prediction models for mobile and touchscreen smartphone interfaces.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6262" y="1890712"/>
            <a:ext cx="171524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91506" y="1890712"/>
            <a:ext cx="229046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81971" y="1890712"/>
            <a:ext cx="703376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262" y="2833687"/>
            <a:ext cx="171524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91506" y="2833687"/>
            <a:ext cx="229046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81971" y="2833687"/>
            <a:ext cx="703376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262" y="3776662"/>
            <a:ext cx="171524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91506" y="3776662"/>
            <a:ext cx="229046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81971" y="3776662"/>
            <a:ext cx="703376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76250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Times New Roman"/>
              </a:rPr>
              <a:t>Technology /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0" y="690562"/>
            <a:ext cx="7620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11715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1715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Times New Roman"/>
              </a:rPr>
              <a:t>UI Accessibility Trees: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 Utilizes native Windows UI Accessibility (UIA) trees for structured, zero-latency screen perception.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16287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1628775"/>
            <a:ext cx="10763250" cy="62865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Times New Roman"/>
              </a:rPr>
              <a:t>Fallback OCR: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 Employs local Optical Character Recognition (OCR) as a fallback mechanism for complex graphical canvases and non-standard UI elements.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400300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400300"/>
            <a:ext cx="10763250" cy="62865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Times New Roman"/>
              </a:rPr>
              <a:t>Dynamic DPI Mapping: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 Applies dynamic DPI scaling to convert virtual model coordinates into exact physical hardware pixels.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317182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3171825"/>
            <a:ext cx="10763250" cy="62865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Times New Roman"/>
              </a:rPr>
              <a:t>Data Privacy: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 Maintains strict data privacy by leveraging lightweight, locally-hosted language models for sensitive desktop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71575"/>
            <a:ext cx="11049000" cy="52101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Times New Roman"/>
              </a:rPr>
              <a:t>System Architecture / Block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0" y="690562"/>
            <a:ext cx="7620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050" y="2762250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762250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Times New Roman"/>
              </a:rPr>
              <a:t>Voice Pipeline: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 Translates audio to text and classifies user intent in real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3219450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219450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Times New Roman"/>
              </a:rPr>
              <a:t>Cognitive Router: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 Delegates tasks between local memory models and advanced cloud vision APIs.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676650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676650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Times New Roman"/>
              </a:rPr>
              <a:t>Safety Watchdog: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 Rule-based gatekeeper that intercepts risky or destructive system commands.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4133850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4133850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Times New Roman"/>
              </a:rPr>
              <a:t>Execution Layer: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 Synthesizes exact physical mouse clicks and OS keystrokes.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76250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Times New Roman"/>
              </a:rPr>
              <a:t>Detailed Discussion: Visual Grounding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0" y="690562"/>
            <a:ext cx="7620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11715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1715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AI maps conversational voice commands to exact screen coordinates using hybrid tracking algorithms.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16287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16287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UIA traversal identifies UI bounding boxes instantly without imposing heavy compute loads on the host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0859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0859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The integrated OCR engine parses text directly from non-standard or canvas-based application elements.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5431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2543175"/>
            <a:ext cx="10763250" cy="62865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High-resolution visual attention modules recognize small interface components (icons, toggles, sliders) without losing inference speed.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76250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Times New Roman"/>
              </a:rPr>
              <a:t>Detailed Discussion: Autonomous 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0" y="690562"/>
            <a:ext cx="7620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11715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1715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Translates single conversational prompts into multi-step execution graphs and dependency trees.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16287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16287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Controls native Windows functions, system settings, and application launching autonomously.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0859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0859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Dynamically navigates loading screens, software pop-ups, and unexpected GUI error dialogs.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5431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25431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Processes core desktop operations locally to maintain strict privacy and zero latency.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76250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Times New Roman"/>
              </a:rPr>
              <a:t>Detailed Discussion: Safety Gateways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0" y="690562"/>
            <a:ext cx="7620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11715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1715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Autonomous OS control introduces inherent risks of destructive file operations or accidental data deletions.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16287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16287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A Sentinel process watchdog continuously monitors system vitals and isolates execution threats.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0859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0859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The safety gatekeeper blocks the execution of unverified shell scripts and unauthorized registry modifications.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5431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25431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Post-flight verification visually checks screen state changes before executing subsequent click actions.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76250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Times New Roman"/>
              </a:rPr>
              <a:t>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0" y="690562"/>
            <a:ext cx="7620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11715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1715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Times New Roman"/>
              </a:rPr>
              <a:t>Generative Coding: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 Voice-triggered website scaffolding, codebase deployment, and automated testing workflows.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16287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16287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Times New Roman"/>
              </a:rPr>
              <a:t>Web Automation: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 Hands-free online shopping, form filling, and autonomous travel ticket booking.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0859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0859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Times New Roman"/>
              </a:rPr>
              <a:t>OS Navigation: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 Automated file organization, workspace management, and rapid software launching.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5431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25431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Times New Roman"/>
              </a:rPr>
              <a:t>Assistive Technology: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 Seamless, hands-free desktop access for motor-impaired individuals.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76250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Times New Roman"/>
              </a:rPr>
              <a:t>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0" y="690562"/>
            <a:ext cx="7620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11715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1715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Highly hardware-efficient architecture runs securely on standard consumer laptops.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16287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16287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Operates independently of underlying HTML structure, scaling to any desktop software natively.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0859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0859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Local execution ensures complete data privacy for sensitive personal and enterprise workflows.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5431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25431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Eliminates heavy API token costs for routine, daily desktop operations.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76250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Times New Roman"/>
              </a:rPr>
              <a:t>Limitations &amp;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0" y="690562"/>
            <a:ext cx="7620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11715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1715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The system is deeply coupled to the native Windows UI Automation framework APIs.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16287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16287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Custom game engines and pure canvas elements cause heavy local OCR processing 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0859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0859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Multi-monitor display setups complicate coordinate mapping and screen targeting accuracy.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5431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25431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High-resolution visual models demand heavily optimized local memory management.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76250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Times New Roman"/>
              </a:rP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0" y="690562"/>
            <a:ext cx="7620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11715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1715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Integration of on-device micro-VLMs to completely replace heavy OCR engines.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16287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16287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Expansion of native cross-platform support to Linux (AT-SPI) and macOS Accessibility APIs.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0859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0859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Development of self-healing UI selectors that adapt to DOM changes using execution logs.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5431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25431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Implementation of emotion-aware, dynamic voice synthesis for natural human interaction.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76250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Times New Roman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0" y="690562"/>
            <a:ext cx="7620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11715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1715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Visual Language Models effectively solve the limitations and rigidity of standard text-only AI assistants.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16287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16287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Hybrid architectures ensure zero-latency, highly secure, and private desktop control.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0859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0859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The system successfully automates complex real-world tasks like website creation and ticket booking.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5431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25431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This lays a realistic framework for sovereign, fully independent digital assistants in daily computing.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76250"/>
            <a:ext cx="11601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Times New Roman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0" y="690562"/>
            <a:ext cx="7620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11715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1715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Hong, W., et al. (2024). CogAgent: A Visual Language Model for GUI Agents. </a:t>
            </a:r>
            <a:r>
              <a:rPr b="0" sz="1650" i="1" u="none">
                <a:solidFill>
                  <a:srgbClr val="1E293B"/>
                </a:solidFill>
                <a:latin typeface="Times New Roman"/>
              </a:rPr>
              <a:t>CVPR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16287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16287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Deng, X., et al. (2023). Mind2Web: Towards a Generalist Agent for the Web. </a:t>
            </a:r>
            <a:r>
              <a:rPr b="0" sz="1650" i="1" u="none">
                <a:solidFill>
                  <a:srgbClr val="1E293B"/>
                </a:solidFill>
                <a:latin typeface="Times New Roman"/>
              </a:rPr>
              <a:t>arXiv preprint arXiv:2306.06070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0859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0859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Rawles, C., et al. (2023). Android in the Wild: A Large-Scale Dataset for Device Control. </a:t>
            </a:r>
            <a:r>
              <a:rPr b="0" sz="1650" i="1" u="none">
                <a:solidFill>
                  <a:srgbClr val="1E293B"/>
                </a:solidFill>
                <a:latin typeface="Times New Roman"/>
              </a:rPr>
              <a:t>NeurIPS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5431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25431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Playwright Documentation (2024). API and Browser Automation Standards. </a:t>
            </a:r>
            <a:r>
              <a:rPr b="0" sz="1650" i="1" u="none">
                <a:solidFill>
                  <a:srgbClr val="1E293B"/>
                </a:solidFill>
                <a:latin typeface="Times New Roman"/>
              </a:rPr>
              <a:t>Microsoft Open Source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3000375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Times New Roman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3000375"/>
            <a:ext cx="10763250" cy="3143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1E293B"/>
                </a:solidFill>
                <a:latin typeface="Times New Roman"/>
              </a:rPr>
              <a:t>Microsoft Developer Network (2024). UI Automation Overview and Core Concepts. </a:t>
            </a:r>
            <a:r>
              <a:rPr b="0" sz="1650" i="1" u="none">
                <a:solidFill>
                  <a:srgbClr val="1E293B"/>
                </a:solidFill>
                <a:latin typeface="Times New Roman"/>
              </a:rPr>
              <a:t>MSDN Docs</a:t>
            </a:r>
            <a:r>
              <a:rPr b="0" sz="1650" i="0" u="none">
                <a:solidFill>
                  <a:srgbClr val="1E293B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53088" y="2105025"/>
            <a:ext cx="408582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1" sz="4800" i="0" u="none">
                <a:solidFill>
                  <a:srgbClr val="1E3A8A"/>
                </a:solidFill>
                <a:latin typeface="Times New Roman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06850" y="3209925"/>
            <a:ext cx="257829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0" sz="2100" i="0" u="none">
                <a:solidFill>
                  <a:srgbClr val="475569"/>
                </a:solidFill>
                <a:latin typeface="Times New Roman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52925" y="4181475"/>
            <a:ext cx="34861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64748B"/>
                </a:solidFill>
                <a:latin typeface="Times New Roman"/>
              </a:rPr>
              <a:t>MUHAMMED AL FAYAS N (BJK23CS042)</a:t>
            </a:r>
            <a:r>
              <a:t>
</a:t>
            </a:r>
            <a:r>
              <a:rPr b="0" sz="1500" i="0" u="none">
                <a:solidFill>
                  <a:srgbClr val="64748B"/>
                </a:solidFill>
                <a:latin typeface="Times New Roman"/>
              </a:rPr>
              <a:t> Bishop Jerome Institute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