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C69BE"/>
                </a:solidFill>
                <a:latin typeface="Aptos"/>
              </a:rPr>
              <a:t>COGNITIVEOS  /  PROJECT PHASE I  /  ZEROTH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C6977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234"/>
                </a:solidFill>
                <a:latin typeface="Aptos"/>
              </a:rPr>
              <a:t>PROJECT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977"/>
                </a:solidFill>
                <a:latin typeface="Aptos"/>
              </a:rPr>
              <a:t>A Multimodal AI Agent for Autonomous Computer 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Bishop Jerome Institute  |  Department of Computer Science &amp;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977"/>
                </a:solidFill>
                <a:latin typeface="Aptos"/>
              </a:rPr>
              <a:t>2026–2027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42234"/>
                </a:solidFill>
                <a:latin typeface="Aptos"/>
              </a:rPr>
              <a:t>CognitiveOS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97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6977"/>
                </a:solidFill>
                <a:latin typeface="Aptos"/>
              </a:rPr>
              <a:t>An intelligent agent framework for perception, reasoning, planning and controlled computer interaction.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160520"/>
            <a:ext cx="5577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37083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69BE"/>
                </a:solidFill>
                <a:latin typeface="Aptos"/>
              </a:rPr>
              <a:t>PROJECT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4515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2234"/>
                </a:solidFill>
                <a:latin typeface="Aptos"/>
              </a:rPr>
              <a:t>SHIBIN.G.SHABU  •  SAJIN.S.MATHEW
S.ARAVIND  •  MUHAMMED AL FAYAS.N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65099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C6977"/>
                </a:solidFill>
                <a:latin typeface="Aptos"/>
              </a:rPr>
              <a:t>Guide: Santra  |  Assistant Professor, Computer Science Department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96596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6977"/>
                </a:solidFill>
                <a:latin typeface="Aptos"/>
              </a:rPr>
              <a:t>AUTONOMOUS COMPUTER INTERACTION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2514600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65176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69BE"/>
                </a:solidFill>
                <a:latin typeface="Aptos"/>
              </a:rPr>
              <a:t>PERCEIVE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98280" y="3017520"/>
            <a:ext cx="0" cy="210312"/>
          </a:xfrm>
          <a:prstGeom prst="line">
            <a:avLst/>
          </a:prstGeom>
          <a:ln w="16510">
            <a:solidFill>
              <a:srgbClr val="1C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60920" y="3246120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3383279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950AA"/>
                </a:solidFill>
                <a:latin typeface="Aptos"/>
              </a:rPr>
              <a:t>REASON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98280" y="3749039"/>
            <a:ext cx="0" cy="210313"/>
          </a:xfrm>
          <a:prstGeom prst="line">
            <a:avLst/>
          </a:prstGeom>
          <a:ln w="16510">
            <a:solidFill>
              <a:srgbClr val="695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60920" y="3977639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411480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9291"/>
                </a:solidFill>
                <a:latin typeface="Aptos"/>
              </a:rPr>
              <a:t>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98280" y="4480559"/>
            <a:ext cx="0" cy="210313"/>
          </a:xfrm>
          <a:prstGeom prst="line">
            <a:avLst/>
          </a:prstGeom>
          <a:ln w="16510">
            <a:solidFill>
              <a:srgbClr val="009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60920" y="4709160"/>
            <a:ext cx="3474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48463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A915C"/>
                </a:solidFill>
                <a:latin typeface="Aptos"/>
              </a:rPr>
              <a:t>VERIFY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C69BE"/>
                </a:solidFill>
                <a:latin typeface="Aptos"/>
              </a:rPr>
              <a:t>COGNITIVEOS  /  PROJECT PHASE I  /  ZEROTH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C6977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234"/>
                </a:solidFill>
                <a:latin typeface="Aptos"/>
              </a:rPr>
              <a:t>BACKGROUND /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977"/>
                </a:solidFill>
                <a:latin typeface="Aptos"/>
              </a:rPr>
              <a:t>The gap between AI understanding and computer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Bishop Jerome Institute  |  Department of Computer Science &amp;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977"/>
                </a:solidFill>
                <a:latin typeface="Aptos"/>
              </a:rPr>
              <a:t>2026–2027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539496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69BE"/>
                </a:solidFill>
                <a:latin typeface="Aptos"/>
              </a:rPr>
              <a:t>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33472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2234"/>
                </a:solidFill>
                <a:latin typeface="Aptos"/>
              </a:rPr>
              <a:t>Multimodal Large Language Models can understand natural-language instructions and visual information. However, conventional assistants still depend heavily on users to perform the actual computer operations across applications.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291"/>
                </a:solidFill>
                <a:latin typeface="Aptos"/>
              </a:rP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26280"/>
            <a:ext cx="4709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977"/>
                </a:solidFill>
                <a:latin typeface="Aptos"/>
              </a:rPr>
              <a:t>Users must manually navigate applications, manage files, interact with websites and execute multi-step workflows. A unified agent is needed to perceive the computer environment, reason about goals and execute actions with safety and user control.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C6977"/>
                </a:solidFill>
                <a:latin typeface="Aptos"/>
              </a:rPr>
              <a:t>CONVENTIONAL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423160"/>
            <a:ext cx="2560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52374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42234"/>
                </a:solidFill>
                <a:latin typeface="Aptos"/>
              </a:rPr>
              <a:t>USER GOAL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0" y="2807208"/>
            <a:ext cx="0" cy="118872"/>
          </a:xfrm>
          <a:prstGeom prst="line">
            <a:avLst/>
          </a:prstGeom>
          <a:ln w="12700">
            <a:solidFill>
              <a:srgbClr val="5C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92240" y="2926080"/>
            <a:ext cx="2560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02666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42234"/>
                </a:solidFill>
                <a:latin typeface="Aptos"/>
              </a:rPr>
              <a:t>OPEN / NAVIGATE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0" y="3310128"/>
            <a:ext cx="0" cy="118872"/>
          </a:xfrm>
          <a:prstGeom prst="line">
            <a:avLst/>
          </a:prstGeom>
          <a:ln w="12700">
            <a:solidFill>
              <a:srgbClr val="5C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92240" y="3429000"/>
            <a:ext cx="2560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52958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42234"/>
                </a:solidFill>
                <a:latin typeface="Aptos"/>
              </a:rPr>
              <a:t>FIND ELEMENT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0" y="3813048"/>
            <a:ext cx="0" cy="118872"/>
          </a:xfrm>
          <a:prstGeom prst="line">
            <a:avLst/>
          </a:prstGeom>
          <a:ln w="12700">
            <a:solidFill>
              <a:srgbClr val="5C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92240" y="3931920"/>
            <a:ext cx="2560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03250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42234"/>
                </a:solidFill>
                <a:latin typeface="Aptos"/>
              </a:rPr>
              <a:t>PERFORM ACTION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0" y="4315968"/>
            <a:ext cx="0" cy="118872"/>
          </a:xfrm>
          <a:prstGeom prst="line">
            <a:avLst/>
          </a:prstGeom>
          <a:ln w="12700">
            <a:solidFill>
              <a:srgbClr val="5C69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492240" y="4434840"/>
            <a:ext cx="256032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53542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42234"/>
                </a:solidFill>
                <a:latin typeface="Aptos"/>
              </a:rPr>
              <a:t>REPEAT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01168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69BE"/>
                </a:solidFill>
                <a:latin typeface="Aptos"/>
              </a:rPr>
              <a:t>PROPOSED DIRECTION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18320" y="2423160"/>
            <a:ext cx="22860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9760" y="2523744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69BE"/>
                </a:solidFill>
                <a:latin typeface="Aptos"/>
              </a:rPr>
              <a:t>GOAL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561320" y="2807208"/>
            <a:ext cx="0" cy="118872"/>
          </a:xfrm>
          <a:prstGeom prst="line">
            <a:avLst/>
          </a:prstGeom>
          <a:ln w="12700">
            <a:solidFill>
              <a:srgbClr val="1C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418320" y="2926080"/>
            <a:ext cx="22860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0" y="3026664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950AA"/>
                </a:solidFill>
                <a:latin typeface="Aptos"/>
              </a:rPr>
              <a:t>UNDERSTAND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561320" y="3310128"/>
            <a:ext cx="0" cy="118872"/>
          </a:xfrm>
          <a:prstGeom prst="line">
            <a:avLst/>
          </a:prstGeom>
          <a:ln w="12700">
            <a:solidFill>
              <a:srgbClr val="695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418320" y="3429000"/>
            <a:ext cx="22860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0" y="3529584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BE7819"/>
                </a:solidFill>
                <a:latin typeface="Aptos"/>
              </a:rPr>
              <a:t>PLAN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561320" y="3813048"/>
            <a:ext cx="0" cy="118872"/>
          </a:xfrm>
          <a:prstGeom prst="line">
            <a:avLst/>
          </a:prstGeom>
          <a:ln w="12700">
            <a:solidFill>
              <a:srgbClr val="BE78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418320" y="3931920"/>
            <a:ext cx="22860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0" y="4032504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9291"/>
                </a:solidFill>
                <a:latin typeface="Aptos"/>
              </a:rPr>
              <a:t>ACT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561320" y="4315968"/>
            <a:ext cx="0" cy="118872"/>
          </a:xfrm>
          <a:prstGeom prst="line">
            <a:avLst/>
          </a:prstGeom>
          <a:ln w="12700">
            <a:solidFill>
              <a:srgbClr val="009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418320" y="4434840"/>
            <a:ext cx="22860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0" y="4535424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A915C"/>
                </a:solidFill>
                <a:latin typeface="Aptos"/>
              </a:rPr>
              <a:t>VERIFY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C69BE"/>
                </a:solidFill>
                <a:latin typeface="Aptos"/>
              </a:rPr>
              <a:t>COGNITIVEOS  /  PROJECT PHASE I  /  ZEROTH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C6977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234"/>
                </a:solidFill>
                <a:latin typeface="Aptos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977"/>
                </a:solidFill>
                <a:latin typeface="Aptos"/>
              </a:rPr>
              <a:t>What the project aims to achieve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Bishop Jerome Institute  |  Department of Computer Science &amp;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977"/>
                </a:solidFill>
                <a:latin typeface="Aptos"/>
              </a:rPr>
              <a:t>2026–2027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10972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69BE"/>
                </a:solidFill>
                <a:latin typeface="Aptos"/>
              </a:rPr>
              <a:t>PRIMARY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121408"/>
            <a:ext cx="8641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2234"/>
                </a:solidFill>
                <a:latin typeface="Aptos"/>
              </a:rPr>
              <a:t>To design and develop a multimodal autonomous AI agent capable of understanding user goals, perceiving the computer environment, planning tasks, executing computer operations and verifying outcomes under appropriate safety controls.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24612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1071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69BE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364991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2234"/>
                </a:solidFill>
                <a:latin typeface="Aptos"/>
              </a:rPr>
              <a:t>MULTIMODAL PERCEPTION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7647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977"/>
                </a:solidFill>
                <a:latin typeface="Aptos"/>
              </a:rPr>
              <a:t>Analyze text, screenshots, GUI elements and visual information.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324612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341071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950AA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364991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2234"/>
                </a:solidFill>
                <a:latin typeface="Aptos"/>
              </a:rPr>
              <a:t>REASONING &amp;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377647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977"/>
                </a:solidFill>
                <a:latin typeface="Aptos"/>
              </a:rPr>
              <a:t>Interpret intent and decompose complex goals into executable tasks.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46136" y="324612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9015" y="341071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9291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5" y="3364991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2234"/>
                </a:solidFill>
                <a:latin typeface="Aptos"/>
              </a:rPr>
              <a:t>COMPUTER INTERACTION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5" y="377647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977"/>
                </a:solidFill>
                <a:latin typeface="Aptos"/>
              </a:rPr>
              <a:t>Execute selected actions through GUI, browser, application and system interfaces.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32304" y="470916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15184" y="48737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A915C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72384" y="482803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2234"/>
                </a:solidFill>
                <a:latin typeface="Aptos"/>
              </a:rPr>
              <a:t>CONTEXT &amp;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15184" y="523951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977"/>
                </a:solidFill>
                <a:latin typeface="Aptos"/>
              </a:rPr>
              <a:t>Maintain relevant information across multi-step interactions.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08192" y="4709160"/>
            <a:ext cx="3383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2" y="48737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69BE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482803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2234"/>
                </a:solidFill>
                <a:latin typeface="Aptos"/>
              </a:rPr>
              <a:t>SAFETY &amp; 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5239512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C6977"/>
                </a:solidFill>
                <a:latin typeface="Aptos"/>
              </a:rPr>
              <a:t>Validate actions and require confirmation for sensitive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C69BE"/>
                </a:solidFill>
                <a:latin typeface="Aptos"/>
              </a:rPr>
              <a:t>COGNITIVEOS  /  PROJECT PHASE I  /  ZEROTH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C6977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234"/>
                </a:solidFill>
                <a:latin typeface="Aptos"/>
              </a:rPr>
              <a:t>METHODOLOGY /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977"/>
                </a:solidFill>
                <a:latin typeface="Aptos"/>
              </a:rPr>
              <a:t>Proposed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Bishop Jerome Institute  |  Department of Computer Science &amp;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977"/>
                </a:solidFill>
                <a:latin typeface="Aptos"/>
              </a:rPr>
              <a:t>2026–2027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69BE"/>
                </a:solidFill>
                <a:latin typeface="Aptos"/>
              </a:rPr>
              <a:t>PROPOSED SYSTEM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65960"/>
            <a:ext cx="109728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468880"/>
            <a:ext cx="1645920" cy="640080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1C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9689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69BE"/>
                </a:solidFill>
                <a:latin typeface="Aptos"/>
              </a:rPr>
              <a:t>INPUT
Text • Voice • Image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14600" y="2788920"/>
            <a:ext cx="548640" cy="0"/>
          </a:xfrm>
          <a:prstGeom prst="line">
            <a:avLst/>
          </a:prstGeom>
          <a:ln w="22860">
            <a:solidFill>
              <a:srgbClr val="1C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063240" y="2240280"/>
            <a:ext cx="2057400" cy="1097280"/>
          </a:xfrm>
          <a:prstGeom prst="roundRect">
            <a:avLst/>
          </a:prstGeom>
          <a:solidFill>
            <a:srgbClr val="F5F2FC"/>
          </a:solidFill>
          <a:ln w="12700">
            <a:solidFill>
              <a:srgbClr val="69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24963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950AA"/>
                </a:solidFill>
                <a:latin typeface="Aptos"/>
              </a:rPr>
              <a:t>MULTIMODAL AI CORE
LLM / VLM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20640" y="2788920"/>
            <a:ext cx="502920" cy="0"/>
          </a:xfrm>
          <a:prstGeom prst="line">
            <a:avLst/>
          </a:prstGeom>
          <a:ln w="22860">
            <a:solidFill>
              <a:srgbClr val="695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23560" y="2240280"/>
            <a:ext cx="2148840" cy="1097280"/>
          </a:xfrm>
          <a:prstGeom prst="roundRect">
            <a:avLst/>
          </a:prstGeom>
          <a:solidFill>
            <a:srgbClr val="FFF8EE"/>
          </a:solidFill>
          <a:ln w="12700">
            <a:solidFill>
              <a:srgbClr val="BE78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245059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E7819"/>
                </a:solidFill>
                <a:latin typeface="Aptos"/>
              </a:rPr>
              <a:t>REASONING + PLANNER
Goal • Decomposition • Plan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0" y="2788920"/>
            <a:ext cx="502920" cy="0"/>
          </a:xfrm>
          <a:prstGeom prst="line">
            <a:avLst/>
          </a:prstGeom>
          <a:ln w="22860">
            <a:solidFill>
              <a:srgbClr val="BE78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75320" y="2240280"/>
            <a:ext cx="2148840" cy="1097280"/>
          </a:xfrm>
          <a:prstGeom prst="roundRect">
            <a:avLst/>
          </a:prstGeom>
          <a:solidFill>
            <a:srgbClr val="F0F6F6"/>
          </a:solidFill>
          <a:ln w="12700">
            <a:solidFill>
              <a:srgbClr val="00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450592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9291"/>
                </a:solidFill>
                <a:latin typeface="Aptos"/>
              </a:rPr>
              <a:t>ACTION / TOOL LAYER
GUI • Browser • APIs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3886200"/>
            <a:ext cx="2057400" cy="658368"/>
          </a:xfrm>
          <a:prstGeom prst="roundRect">
            <a:avLst/>
          </a:prstGeom>
          <a:solidFill>
            <a:srgbClr val="F0F6FF"/>
          </a:solidFill>
          <a:ln w="12700">
            <a:solidFill>
              <a:srgbClr val="1C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82112" y="4023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69BE"/>
                </a:solidFill>
                <a:latin typeface="Aptos"/>
              </a:rPr>
              <a:t>PERCEPTION
Vision • OCR • GUI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0" y="3886200"/>
            <a:ext cx="2148840" cy="658368"/>
          </a:xfrm>
          <a:prstGeom prst="roundRect">
            <a:avLst/>
          </a:prstGeom>
          <a:solidFill>
            <a:srgbClr val="F0FAF6"/>
          </a:solidFill>
          <a:ln w="12700">
            <a:solidFill>
              <a:srgbClr val="2A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42432" y="40233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A915C"/>
                </a:solidFill>
                <a:latin typeface="Aptos"/>
              </a:rPr>
              <a:t>MEMORY
Context • Vector DB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886200"/>
            <a:ext cx="2148840" cy="658368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14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399592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42234"/>
                </a:solidFill>
                <a:latin typeface="Aptos"/>
              </a:rPr>
              <a:t>COMPUTER ENVIRONMENT
Desktop • Web • OS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96512" y="3337560"/>
            <a:ext cx="0" cy="548640"/>
          </a:xfrm>
          <a:prstGeom prst="line">
            <a:avLst/>
          </a:prstGeom>
          <a:ln w="17780">
            <a:solidFill>
              <a:srgbClr val="1C69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02552" y="3337560"/>
            <a:ext cx="0" cy="548640"/>
          </a:xfrm>
          <a:prstGeom prst="line">
            <a:avLst/>
          </a:prstGeom>
          <a:ln w="17780">
            <a:solidFill>
              <a:srgbClr val="2A91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354312" y="3337560"/>
            <a:ext cx="0" cy="548640"/>
          </a:xfrm>
          <a:prstGeom prst="line">
            <a:avLst/>
          </a:prstGeom>
          <a:ln w="17780">
            <a:solidFill>
              <a:srgbClr val="009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275320" y="4800600"/>
            <a:ext cx="2148840" cy="658368"/>
          </a:xfrm>
          <a:prstGeom prst="roundRect">
            <a:avLst/>
          </a:prstGeom>
          <a:solidFill>
            <a:srgbClr val="F0FAF6"/>
          </a:solidFill>
          <a:ln w="12700">
            <a:solidFill>
              <a:srgbClr val="2A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491947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A915C"/>
                </a:solidFill>
                <a:latin typeface="Aptos"/>
              </a:rPr>
              <a:t>VERIFY + SAFETY
Feedback • Confirmation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54312" y="4544568"/>
            <a:ext cx="0" cy="256032"/>
          </a:xfrm>
          <a:prstGeom prst="line">
            <a:avLst/>
          </a:prstGeom>
          <a:ln w="16510">
            <a:solidFill>
              <a:srgbClr val="1422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68680" y="5257800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C69BE"/>
                </a:solidFill>
                <a:latin typeface="Aptos"/>
              </a:rPr>
              <a:t>PROPOSED TECHNOLOGIES / TECHNIQUES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519379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Multimodal LLM/VLM  •  Python  •  FastAPI  •  GUI &amp; Browser Automation  •  Vector Memory  •  Docker  •  OS APIs  •  Permission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C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6858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C69BE"/>
                </a:solidFill>
                <a:latin typeface="Aptos"/>
              </a:rPr>
              <a:t>COGNITIVEOS  /  PROJECT PHASE I  /  ZEROTH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560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C6977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234"/>
                </a:solidFill>
                <a:latin typeface="Aptos"/>
              </a:rPr>
              <a:t>EXPECTED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977"/>
                </a:solidFill>
                <a:latin typeface="Aptos"/>
              </a:rPr>
              <a:t>Key achievements, expected benefits and potential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C6977"/>
                </a:solidFill>
                <a:latin typeface="Aptos"/>
              </a:rPr>
              <a:t>Bishop Jerome Institute  |  Department of Computer Science &amp;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65392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C6977"/>
                </a:solidFill>
                <a:latin typeface="Aptos"/>
              </a:rPr>
              <a:t>2026–2027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7627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69BE"/>
                </a:solidFill>
                <a:latin typeface="Aptos"/>
              </a:rPr>
              <a:t>FUNCTIONAL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420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977"/>
                </a:solidFill>
                <a:latin typeface="Aptos"/>
              </a:rPr>
              <a:t>A multimodal agent capable of understanding selected computer environments.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96596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17627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9291"/>
                </a:solidFill>
                <a:latin typeface="Aptos"/>
              </a:rPr>
              <a:t>TASK AUTOMATION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5420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977"/>
                </a:solidFill>
                <a:latin typeface="Aptos"/>
              </a:rPr>
              <a:t>Execution of selected multi-step desktop and web workflows.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46136" y="196596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5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217627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50AA"/>
                </a:solidFill>
                <a:latin typeface="Aptos"/>
              </a:rPr>
              <a:t>INTEGRATED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54203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977"/>
                </a:solidFill>
                <a:latin typeface="Aptos"/>
              </a:rPr>
              <a:t>Perception, reasoning, planning, memory, tools and verification in one framework.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5204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C69BE"/>
                </a:solidFill>
                <a:latin typeface="Aptos"/>
              </a:rPr>
              <a:t>POTENTIAL APPLICATIONS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886200"/>
            <a:ext cx="2148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77639"/>
            <a:ext cx="2057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42234"/>
                </a:solidFill>
                <a:latin typeface="Aptos"/>
              </a:rPr>
              <a:t>Personal Productivity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3886200"/>
            <a:ext cx="2148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39" y="3977639"/>
            <a:ext cx="2057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42234"/>
                </a:solidFill>
                <a:latin typeface="Aptos"/>
              </a:rPr>
              <a:t>Software Development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3886200"/>
            <a:ext cx="2148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3977639"/>
            <a:ext cx="2057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42234"/>
                </a:solidFill>
                <a:latin typeface="Aptos"/>
              </a:rPr>
              <a:t>Digital Assistance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416552"/>
            <a:ext cx="2148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07992"/>
            <a:ext cx="2057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42234"/>
                </a:solidFill>
                <a:latin typeface="Aptos"/>
              </a:rPr>
              <a:t>Accessibility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4416552"/>
            <a:ext cx="2148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3239" y="4507992"/>
            <a:ext cx="2057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42234"/>
                </a:solidFill>
                <a:latin typeface="Aptos"/>
              </a:rPr>
              <a:t>Enterprise Automation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520440"/>
            <a:ext cx="3520440" cy="2057400"/>
          </a:xfrm>
          <a:prstGeom prst="roundRect">
            <a:avLst/>
          </a:prstGeom>
          <a:solidFill>
            <a:srgbClr val="142234"/>
          </a:solidFill>
          <a:ln w="12700">
            <a:solidFill>
              <a:srgbClr val="14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37673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8CDFF"/>
                </a:solidFill>
                <a:latin typeface="Aptos"/>
              </a:rPr>
              <a:t>CONCLUSION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133087"/>
            <a:ext cx="2971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CognitiveOS aims to bridge the gap between AI understanding and computer execution by combining multimodal perception, intelligent reasoning, task planning and controlled computer interaction.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